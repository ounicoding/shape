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千里風光計畫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999999"/>
                </a:solidFill>
              </a:defRPr>
            </a:pPr>
            <a:r>
              <a:t>行政區級 AI 光儲碳電網營運商組織藍圖</a:t>
            </a:r>
            <a:br/>
            <a:r>
              <a:t>與政策市場契合度研究報告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943600"/>
            <a:ext cx="1828800" cy="27432"/>
          </a:xfrm>
          <a:prstGeom prst="rect">
            <a:avLst/>
          </a:prstGeom>
          <a:solidFill>
            <a:srgbClr val="2B6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</a:defRPr>
            </a:pPr>
            <a:r>
              <a:t>Qianli Fengguang Plan - Organization Blueprint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1A"/>
                </a:solidFill>
              </a:defRPr>
            </a:pPr>
            <a:r>
              <a:t>目錄</a:t>
            </a:r>
          </a:p>
          <a:p>
            <a:pPr>
              <a:spcBef>
                <a:spcPts val="400"/>
              </a:spcBef>
              <a:defRPr sz="1200">
                <a:solidFill>
                  <a:srgbClr val="666666"/>
                </a:solidFill>
              </a:defRPr>
            </a:pPr>
            <a: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371600" cy="27432"/>
          </a:xfrm>
          <a:prstGeom prst="rect">
            <a:avLst/>
          </a:prstGeom>
          <a:solidFill>
            <a:srgbClr val="2B6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B6CB4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463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千里風光計畫組織藍圖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828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母公司定位 · 三大子公司 · 商業閉環 · 團隊建議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B6CB4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834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政策與市場契合度分析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2004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算電協同 · VPP與電力現貨 · 儲能市場化 · 碳交易 · 風險評估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6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CCCCCC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千里風光計畫組織藍圖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1A"/>
                </a:solidFill>
              </a:defRPr>
            </a:pPr>
            <a:r>
              <a:t>摘要與核心願景</a:t>
            </a:r>
          </a:p>
          <a:p>
            <a:pPr>
              <a:spcBef>
                <a:spcPts val="400"/>
              </a:spcBef>
              <a:defRPr sz="1200">
                <a:solidFill>
                  <a:srgbClr val="666666"/>
                </a:solidFill>
              </a:defRPr>
            </a:pPr>
            <a:r>
              <a:t>從能源建設商轉型為城市級能源大腦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371600" cy="27432"/>
          </a:xfrm>
          <a:prstGeom prst="rect">
            <a:avLst/>
          </a:prstGeom>
          <a:solidFill>
            <a:srgbClr val="2B6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486400" cy="22860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B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6CB4"/>
                </a:solidFill>
              </a:defRPr>
            </a:pPr>
            <a:r>
              <a:t>計畫定位</a:t>
            </a:r>
          </a:p>
          <a:p>
            <a:pPr>
              <a:spcBef>
                <a:spcPts val="800"/>
              </a:spcBef>
              <a:defRPr sz="1300">
                <a:solidFill>
                  <a:srgbClr val="1A1A1A"/>
                </a:solidFill>
              </a:defRPr>
            </a:pPr>
            <a:r>
              <a:t>建立以 AI 為核心驅動的行政區級光伏、儲能與碳電網營運商</a:t>
            </a:r>
          </a:p>
          <a:p>
            <a:pPr>
              <a:spcBef>
                <a:spcPts val="600"/>
              </a:spcBef>
              <a:defRPr sz="1300">
                <a:solidFill>
                  <a:srgbClr val="1A1A1A"/>
                </a:solidFill>
              </a:defRPr>
            </a:pPr>
            <a:r>
              <a:t>核心願景：能源資產投資平台、區域電網營運商、能源金融集團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2120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5544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1A"/>
                </a:solidFill>
              </a:defRPr>
            </a:pPr>
            <a:r>
              <a:t>● 資產控制：透過 EPC 快速部署獲取區域能源資產控制權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87451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1A"/>
                </a:solidFill>
              </a:defRPr>
            </a:pPr>
            <a:r>
              <a:t>● 資本調度：設計 REITs 2.0 退出路徑，實現資本循環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1A"/>
                </a:solidFill>
              </a:defRPr>
            </a:pPr>
            <a:r>
              <a:t>● 數據中樞：AI 能源平台匯聚全域能源數據，驅動智慧決策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5146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1A"/>
                </a:solidFill>
              </a:defRPr>
            </a:pPr>
            <a:r>
              <a:t>● 交易權與政府接口：掌握電力現貨、碳交易、綠電直連等市場入口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11064240" cy="1645920"/>
          </a:xfrm>
          <a:prstGeom prst="round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114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三大前瞻佈局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805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B6CB4"/>
                </a:solidFill>
              </a:defRPr>
            </a:pPr>
            <a:r>
              <a:t>算電協同</a:t>
            </a:r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</a:defRPr>
            </a:pPr>
            <a:r>
              <a:t>數據中心等高耗能負載與新能源發電深度耦合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4805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8B57"/>
                </a:solidFill>
              </a:defRPr>
            </a:pPr>
            <a:r>
              <a:t>多用戶綠電直連</a:t>
            </a:r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</a:defRPr>
            </a:pPr>
            <a:r>
              <a:t>為園區內多個用戶提供專線綠電供應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4805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692A"/>
                </a:solidFill>
              </a:defRPr>
            </a:pPr>
            <a:r>
              <a:t>V2G 行動儲能池</a:t>
            </a:r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</a:defRPr>
            </a:pPr>
            <a:r>
              <a:t>將電動車輛視為可調度的移動儲能節點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1A"/>
                </a:solidFill>
              </a:defRPr>
            </a:pPr>
            <a:r>
              <a:t>集團母公司定位</a:t>
            </a:r>
          </a:p>
          <a:p>
            <a:pPr>
              <a:spcBef>
                <a:spcPts val="400"/>
              </a:spcBef>
              <a:defRPr sz="1200">
                <a:solidFill>
                  <a:srgbClr val="666666"/>
                </a:solidFill>
              </a:defRPr>
            </a:pPr>
            <a:r>
              <a:t>區域級智慧電網資產控股與營運平台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371600" cy="27432"/>
          </a:xfrm>
          <a:prstGeom prst="rect">
            <a:avLst/>
          </a:prstGeom>
          <a:solidFill>
            <a:srgbClr val="2B6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560320" cy="201168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2B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6CB4"/>
                </a:solidFill>
              </a:defRPr>
            </a:pPr>
            <a:r>
              <a:t>資產控制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戰略規劃與資源整合</a:t>
            </a:r>
            <a:br/>
            <a:r>
              <a:t>掌握關鍵能源資產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463040"/>
            <a:ext cx="2560320" cy="201168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645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8B57"/>
                </a:solidFill>
              </a:defRPr>
            </a:pPr>
            <a:r>
              <a:t>資本調度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1031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資本靈活調度</a:t>
            </a:r>
            <a:br/>
            <a:r>
              <a:t>REITs 退出路徑設計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2560320" cy="201168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D46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45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692A"/>
                </a:solidFill>
              </a:defRPr>
            </a:pPr>
            <a:r>
              <a:t>數據中樞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031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能源數據匯聚</a:t>
            </a:r>
            <a:br/>
            <a:r>
              <a:t>AI 智慧決策中樞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463040"/>
            <a:ext cx="2560320" cy="201168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6B4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1645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4C9A"/>
                </a:solidFill>
              </a:defRPr>
            </a:pPr>
            <a:r>
              <a:t>交易權與政府接口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1031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市場交易權掌握</a:t>
            </a:r>
            <a:br/>
            <a:r>
              <a:t>政府關係與政策接口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0480"/>
            <a:ext cx="11064240" cy="22860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2B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未來發展方向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480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B6CB4"/>
                </a:solidFill>
              </a:defRPr>
            </a:pPr>
            <a:r>
              <a:t>● </a:t>
            </a:r>
            <a:r>
              <a:rPr sz="1200" b="1">
                <a:solidFill>
                  <a:srgbClr val="2B6CB4"/>
                </a:solidFill>
              </a:rPr>
              <a:t>算電協同：</a:t>
            </a:r>
            <a:r>
              <a:rPr sz="1200">
                <a:solidFill>
                  <a:srgbClr val="666666"/>
                </a:solidFill>
              </a:rPr>
              <a:t>將數據中心等高耗能負載與新能源發電深度耦合，實現能源效率最大化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8B57"/>
                </a:solidFill>
              </a:defRPr>
            </a:pPr>
            <a:r>
              <a:t>● </a:t>
            </a:r>
            <a:r>
              <a:rPr sz="1200" b="1">
                <a:solidFill>
                  <a:srgbClr val="2E8B57"/>
                </a:solidFill>
              </a:rPr>
              <a:t>多用戶綠電直連：</a:t>
            </a:r>
            <a:r>
              <a:rPr sz="1200">
                <a:solidFill>
                  <a:srgbClr val="666666"/>
                </a:solidFill>
              </a:rPr>
              <a:t>為園區內多個用戶提供專線綠電供應，提升綠電消納能力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692A"/>
                </a:solidFill>
              </a:defRPr>
            </a:pPr>
            <a:r>
              <a:t>● </a:t>
            </a:r>
            <a:r>
              <a:rPr sz="1200" b="1">
                <a:solidFill>
                  <a:srgbClr val="D4692A"/>
                </a:solidFill>
              </a:rPr>
              <a:t>V2G 行動儲能池：</a:t>
            </a:r>
            <a:r>
              <a:rPr sz="1200">
                <a:solidFill>
                  <a:srgbClr val="666666"/>
                </a:solidFill>
              </a:rPr>
              <a:t>將行政區內電動車輛視為可調度的移動儲能節點，為電網提供靈活性資源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1A"/>
                </a:solidFill>
              </a:defRPr>
            </a:pPr>
            <a:r>
              <a:t>母子公司組織架構全景</a:t>
            </a:r>
          </a:p>
          <a:p>
            <a:pPr>
              <a:spcBef>
                <a:spcPts val="400"/>
              </a:spcBef>
              <a:defRPr sz="1200">
                <a:solidFill>
                  <a:srgbClr val="666666"/>
                </a:solidFill>
              </a:defRPr>
            </a:pPr>
            <a:r>
              <a:t>母公司統籌 + 三大子公司專業協作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371600" cy="27432"/>
          </a:xfrm>
          <a:prstGeom prst="rect">
            <a:avLst/>
          </a:prstGeom>
          <a:solidFill>
            <a:srgbClr val="2B6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o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466159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4754880"/>
            <a:ext cx="110642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B6CB4"/>
                </a:solidFill>
              </a:defRPr>
            </a:pPr>
            <a:r>
              <a:t>EPC 工程總包</a:t>
            </a:r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</a:defRPr>
            </a:pPr>
            <a:r>
              <a:t>用工程能力拿下區域資產控制權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49377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8B57"/>
                </a:solidFill>
              </a:defRPr>
            </a:pPr>
            <a:r>
              <a:t>投資/開發/方案</a:t>
            </a:r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</a:defRPr>
            </a:pPr>
            <a:r>
              <a:t>持有資產、控制 VPP、管理電網收益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49377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692A"/>
                </a:solidFill>
              </a:defRPr>
            </a:pPr>
            <a:r>
              <a:t>貿易公司</a:t>
            </a:r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</a:defRPr>
            </a:pPr>
            <a:r>
              <a:t>市場擴張、獲取客戶、輸出方案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1A"/>
                </a:solidFill>
              </a:defRPr>
            </a:pPr>
            <a:r>
              <a:t>子公司 1：EPC 工程總包公司</a:t>
            </a:r>
          </a:p>
          <a:p>
            <a:pPr>
              <a:spcBef>
                <a:spcPts val="400"/>
              </a:spcBef>
              <a:defRPr sz="1200">
                <a:solidFill>
                  <a:srgbClr val="666666"/>
                </a:solidFill>
              </a:defRPr>
            </a:pPr>
            <a:r>
              <a:t>行政區能源基建快速部署平台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371600" cy="27432"/>
          </a:xfrm>
          <a:prstGeom prst="rect">
            <a:avLst/>
          </a:prstGeom>
          <a:solidFill>
            <a:srgbClr val="2B6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486400" cy="2560320"/>
          </a:xfrm>
          <a:prstGeom prst="roundRect">
            <a:avLst/>
          </a:prstGeom>
          <a:solidFill>
            <a:srgbClr val="F0F4F8"/>
          </a:solidFill>
          <a:ln>
            <a:solidFill>
              <a:srgbClr val="2B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B6CB4"/>
                </a:solidFill>
              </a:defRPr>
            </a:pPr>
            <a:r>
              <a:t>定位與核心業務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</a:defRPr>
            </a:pPr>
            <a:r>
              <a:t>提供標準化、模塊化、可快速複製的工程能力，而非僅僅賺取工程毛利</a:t>
            </a:r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</a:defRPr>
            </a:pPr>
            <a:r>
              <a:t>  • 光伏與儲能設計施工</a:t>
            </a:r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</a:defRPr>
            </a:pPr>
            <a:r>
              <a:t>  • 微電網建設</a:t>
            </a:r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</a:defRPr>
            </a:pPr>
            <a:r>
              <a:t>  • Edge AI 設備安裝</a:t>
            </a:r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</a:defRPr>
            </a:pPr>
            <a:r>
              <a:t>  • 系統運維與舊系統改造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2120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組織架構與「戰區制」管理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• 工程中心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9456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• 調試中心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468879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• O&amp;M 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743199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• AI 接入部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017519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• 採購部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3017520"/>
            <a:ext cx="4663440" cy="731520"/>
          </a:xfrm>
          <a:prstGeom prst="round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3154680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A1A1A"/>
                </a:solidFill>
              </a:defRPr>
            </a:pPr>
            <a:r>
              <a:t>管理模式：SOP 化 · 模塊化 · 數字工地 · 區域責任制</a:t>
            </a:r>
          </a:p>
        </p:txBody>
      </p:sp>
      <p:pic>
        <p:nvPicPr>
          <p:cNvPr id="16" name="Picture 15" descr="chart_e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06240"/>
            <a:ext cx="2743200" cy="2483766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029200" y="4206240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4389120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技術專業能力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75488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• 高低壓配電、PCS/BMS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501091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• EMS 能源管理系統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5266944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• Modbus / IEC104 通訊協議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5522976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• SCADA 監控系統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577900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• Edge AI 本地控制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603504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• 數字孿生技術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1A"/>
                </a:solidFill>
              </a:defRPr>
            </a:pPr>
            <a:r>
              <a:t>子公司 2：投資 / 開發 / 方案公司</a:t>
            </a:r>
          </a:p>
          <a:p>
            <a:pPr>
              <a:spcBef>
                <a:spcPts val="400"/>
              </a:spcBef>
              <a:defRPr sz="1200">
                <a:solidFill>
                  <a:srgbClr val="666666"/>
                </a:solidFill>
              </a:defRPr>
            </a:pPr>
            <a:r>
              <a:t>集團真正核心 — 行政區能源資產運營商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371600" cy="27432"/>
          </a:xfrm>
          <a:prstGeom prst="rect">
            <a:avLst/>
          </a:prstGeom>
          <a:solidFill>
            <a:srgbClr val="2B6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9144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A1A1A"/>
                </a:solidFill>
              </a:defRPr>
            </a:pPr>
            <a:r>
              <a:t>負責持有資產、控制 VPP、管理電網收益並控制現金流。核心目標是管理整個行政區的能源資產池，而非單一案場，以實現資產收益的最大化。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5486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六大核心部門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8B57"/>
                </a:solidFill>
              </a:defRPr>
            </a:pPr>
            <a:r>
              <a:t>● 投資中心：</a:t>
            </a:r>
            <a:r>
              <a:rPr sz="1100">
                <a:solidFill>
                  <a:srgbClr val="666666"/>
                </a:solidFill>
              </a:rPr>
              <a:t>項目投資決策與資產配置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8B57"/>
                </a:solidFill>
              </a:defRPr>
            </a:pPr>
            <a:r>
              <a:t>● VPP 中心：</a:t>
            </a:r>
            <a:r>
              <a:rPr sz="1100">
                <a:solidFill>
                  <a:srgbClr val="666666"/>
                </a:solidFill>
              </a:rPr>
              <a:t>虛擬電廠聚合與調度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576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8B57"/>
                </a:solidFill>
              </a:defRPr>
            </a:pPr>
            <a:r>
              <a:t>● AI 中心：</a:t>
            </a:r>
            <a:r>
              <a:rPr sz="1100">
                <a:solidFill>
                  <a:srgbClr val="666666"/>
                </a:solidFill>
              </a:rPr>
              <a:t>算法研發與平台運營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77639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8B57"/>
                </a:solidFill>
              </a:defRPr>
            </a:pPr>
            <a:r>
              <a:t>● 能源交易部：</a:t>
            </a:r>
            <a:r>
              <a:rPr sz="1100">
                <a:solidFill>
                  <a:srgbClr val="666666"/>
                </a:solidFill>
              </a:rPr>
              <a:t>電力現貨與中長期交易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97679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8B57"/>
                </a:solidFill>
              </a:defRPr>
            </a:pPr>
            <a:r>
              <a:t>● 碳資產部：</a:t>
            </a:r>
            <a:r>
              <a:rPr sz="1100">
                <a:solidFill>
                  <a:srgbClr val="666666"/>
                </a:solidFill>
              </a:rPr>
              <a:t>CCER 開發與碳交易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17719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8B57"/>
                </a:solidFill>
              </a:defRPr>
            </a:pPr>
            <a:r>
              <a:t>● 財務資產部：</a:t>
            </a:r>
            <a:r>
              <a:rPr sz="1100">
                <a:solidFill>
                  <a:srgbClr val="666666"/>
                </a:solidFill>
              </a:rPr>
              <a:t>資產證券化與 REITs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468880"/>
            <a:ext cx="5212080" cy="1828800"/>
          </a:xfrm>
          <a:prstGeom prst="roundRect">
            <a:avLst/>
          </a:prstGeom>
          <a:solidFill>
            <a:srgbClr val="F0F4F8"/>
          </a:solidFill>
          <a:ln>
            <a:solidFill>
              <a:srgbClr val="2B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65176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四大現金流來源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01752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6CB4"/>
                </a:solidFill>
              </a:defRPr>
            </a:pPr>
            <a:r>
              <a:t>● 售電（穩定現金流）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310127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8B57"/>
                </a:solidFill>
              </a:defRPr>
            </a:pPr>
            <a:r>
              <a:t>● VPP 調度（高毛利）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602735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4692A"/>
                </a:solidFill>
              </a:defRPr>
            </a:pPr>
            <a:r>
              <a:t>● 碳交易（金融收益）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895344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B4C9A"/>
                </a:solidFill>
              </a:defRPr>
            </a:pPr>
            <a:r>
              <a:t>● AI SaaS（複利增長）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480560"/>
            <a:ext cx="52120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66344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關鍵績效指標 (KPI)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98348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• 聚合 MW / MWh 規模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239512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• 調度收益總額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495544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• 每 MW 資產收益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1A"/>
                </a:solidFill>
              </a:defRPr>
            </a:pPr>
            <a:r>
              <a:t>子公司 3：貿易公司</a:t>
            </a:r>
          </a:p>
          <a:p>
            <a:pPr>
              <a:spcBef>
                <a:spcPts val="400"/>
              </a:spcBef>
              <a:defRPr sz="1200">
                <a:solidFill>
                  <a:srgbClr val="666666"/>
                </a:solidFill>
              </a:defRPr>
            </a:pPr>
            <a:r>
              <a:t>能源資產商品化輸出平台 — 能源市場擴張引擎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371600" cy="27432"/>
          </a:xfrm>
          <a:prstGeom prst="rect">
            <a:avLst/>
          </a:prstGeom>
          <a:solidFill>
            <a:srgbClr val="2B6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73152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D46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A1A1A"/>
                </a:solidFill>
              </a:defRPr>
            </a:pPr>
            <a:r>
              <a:t>負責市場擴張、區域滲透及潛在的海外輸出。將能源資產與服務商品化，輸出至終端市場。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486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核心業務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692A"/>
                </a:solidFill>
              </a:defRPr>
            </a:pPr>
            <a:r>
              <a:t>• 售電方案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692A"/>
                </a:solidFill>
              </a:defRPr>
            </a:pPr>
            <a:r>
              <a:t>• 光儲方案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692A"/>
                </a:solidFill>
              </a:defRPr>
            </a:pPr>
            <a:r>
              <a:t>• AI 能源平台 SaaS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692A"/>
                </a:solidFill>
              </a:defRPr>
            </a:pPr>
            <a:r>
              <a:t>• VPP 加盟合作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28600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46888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「行業制」管理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83464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工業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1546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物流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4747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數據中心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79476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港口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80560"/>
            <a:ext cx="11064240" cy="1645920"/>
          </a:xfrm>
          <a:prstGeom prst="round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6634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市場拓展建議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292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B6CB4"/>
                </a:solidFill>
              </a:defRPr>
            </a:pPr>
            <a:r>
              <a:t>供應鏈碳足跡諮詢</a:t>
            </a:r>
          </a:p>
          <a:p>
            <a:pPr>
              <a:spcBef>
                <a:spcPts val="300"/>
              </a:spcBef>
              <a:defRPr sz="1000">
                <a:solidFill>
                  <a:srgbClr val="666666"/>
                </a:solidFill>
              </a:defRPr>
            </a:pPr>
            <a:r>
              <a:t>對接歐盟 CBAM 等國際標準，幫助出口企業應對碳關稅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0292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8B57"/>
                </a:solidFill>
              </a:defRPr>
            </a:pPr>
            <a:r>
              <a:t>「能源+」增值服務</a:t>
            </a:r>
          </a:p>
          <a:p>
            <a:pPr>
              <a:spcBef>
                <a:spcPts val="300"/>
              </a:spcBef>
              <a:defRPr sz="1000">
                <a:solidFill>
                  <a:srgbClr val="666666"/>
                </a:solidFill>
              </a:defRPr>
            </a:pPr>
            <a:r>
              <a:t>能效診斷、設備預警 SaaS 等增值服務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50292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692A"/>
                </a:solidFill>
              </a:defRPr>
            </a:pPr>
            <a:r>
              <a:t>區域能源合夥人計畫</a:t>
            </a:r>
          </a:p>
          <a:p>
            <a:pPr>
              <a:spcBef>
                <a:spcPts val="300"/>
              </a:spcBef>
              <a:defRPr sz="1000">
                <a:solidFill>
                  <a:srgbClr val="666666"/>
                </a:solidFill>
              </a:defRPr>
            </a:pPr>
            <a:r>
              <a:t>招募地方資源方，快速滲透縣域市場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1A"/>
                </a:solidFill>
              </a:defRPr>
            </a:pPr>
            <a:r>
              <a:t>商業閉環與最終形態</a:t>
            </a:r>
          </a:p>
          <a:p>
            <a:pPr>
              <a:spcBef>
                <a:spcPts val="400"/>
              </a:spcBef>
              <a:defRPr sz="1200">
                <a:solidFill>
                  <a:srgbClr val="666666"/>
                </a:solidFill>
              </a:defRPr>
            </a:pPr>
            <a:r>
              <a:t>貿易獲客 → 投資控資產 → EPC 落地 → 資產池擴張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371600" cy="27432"/>
          </a:xfrm>
          <a:prstGeom prst="rect">
            <a:avLst/>
          </a:prstGeom>
          <a:solidFill>
            <a:srgbClr val="2B6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1064240" cy="268393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4206240"/>
            <a:ext cx="11247120" cy="219456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3891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最終形態演變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846320"/>
            <a:ext cx="347472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0292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B6CB4"/>
                </a:solidFill>
              </a:defRPr>
            </a:pPr>
            <a:r>
              <a:t>區域電網營運商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5440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管理行政區級能源資產池，參與電力市場交易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846320"/>
            <a:ext cx="347472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50292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8B57"/>
                </a:solidFill>
              </a:defRPr>
            </a:pPr>
            <a:r>
              <a:t>能源金融平台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5440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REITs、碳金融、綠色金融產品創新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4846320"/>
            <a:ext cx="347472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4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50292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B4C9A"/>
                </a:solidFill>
              </a:defRPr>
            </a:pPr>
            <a:r>
              <a:t>AI 能源 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5440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城市級能源大腦，數據驅動的智慧決策中樞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1A"/>
                </a:solidFill>
              </a:defRPr>
            </a:pPr>
            <a:r>
              <a:t>未來估值與團隊組成建議</a:t>
            </a:r>
          </a:p>
          <a:p>
            <a:pPr>
              <a:spcBef>
                <a:spcPts val="400"/>
              </a:spcBef>
              <a:defRPr sz="1200">
                <a:solidFill>
                  <a:srgbClr val="666666"/>
                </a:solidFill>
              </a:defRPr>
            </a:pPr>
            <a:r>
              <a:t>從 EPC 估值轉向資產平台估值與 AI+VPP+碳金融估值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371600" cy="27432"/>
          </a:xfrm>
          <a:prstGeom prst="rect">
            <a:avLst/>
          </a:prstGeom>
          <a:solidFill>
            <a:srgbClr val="2B6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4864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估值邏輯轉變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66666"/>
                </a:solidFill>
              </a:defRPr>
            </a:pPr>
            <a:r>
              <a:t>傳統 EPC 估值</a:t>
            </a:r>
          </a:p>
          <a:p>
            <a:pPr>
              <a:defRPr sz="1100">
                <a:solidFill>
                  <a:srgbClr val="666666"/>
                </a:solidFill>
              </a:defRPr>
            </a:pPr>
            <a:r>
              <a:t>基於施工毛利與工程規模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4937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B6CB4"/>
                </a:solidFill>
              </a:defRPr>
            </a:pPr>
            <a:r>
              <a:t>資產平台估值</a:t>
            </a:r>
          </a:p>
          <a:p>
            <a:pPr>
              <a:defRPr sz="1100">
                <a:solidFill>
                  <a:srgbClr val="666666"/>
                </a:solidFill>
              </a:defRPr>
            </a:pPr>
            <a:r>
              <a:t>基於持續性電網現金流、服務分潤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4937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8B57"/>
                </a:solidFill>
              </a:defRPr>
            </a:pPr>
            <a:r>
              <a:t>AI + VPP + 碳金融估值</a:t>
            </a:r>
          </a:p>
          <a:p>
            <a:pPr>
              <a:defRPr sz="1100">
                <a:solidFill>
                  <a:srgbClr val="666666"/>
                </a:solidFill>
              </a:defRPr>
            </a:pPr>
            <a:r>
              <a:t>基於數據資產溢價與市場化收益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5212080" cy="2743200"/>
          </a:xfrm>
          <a:prstGeom prst="roundRect">
            <a:avLst/>
          </a:prstGeom>
          <a:solidFill>
            <a:srgbClr val="F0F4F8"/>
          </a:solidFill>
          <a:ln>
            <a:solidFill>
              <a:srgbClr val="2B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55448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跨界人才結構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2024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電力系統 + AI 算法 + 金融工程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2860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B6CB4"/>
                </a:solidFill>
              </a:defRPr>
            </a:pPr>
            <a:r>
              <a:t>● 能源交易員</a:t>
            </a:r>
          </a:p>
          <a:p>
            <a:pPr>
              <a:spcBef>
                <a:spcPts val="200"/>
              </a:spcBef>
              <a:defRPr sz="1100">
                <a:solidFill>
                  <a:srgbClr val="666666"/>
                </a:solidFill>
              </a:defRPr>
            </a:pPr>
            <a:r>
              <a:t>  電力現貨與碳市場交易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6974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8B57"/>
                </a:solidFill>
              </a:defRPr>
            </a:pPr>
            <a:r>
              <a:t>● AI 調度算法工程師</a:t>
            </a:r>
          </a:p>
          <a:p>
            <a:pPr>
              <a:spcBef>
                <a:spcPts val="200"/>
              </a:spcBef>
              <a:defRPr sz="1100">
                <a:solidFill>
                  <a:srgbClr val="666666"/>
                </a:solidFill>
              </a:defRPr>
            </a:pPr>
            <a:r>
              <a:t>  VPP 優化與預測算法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108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692A"/>
                </a:solidFill>
              </a:defRPr>
            </a:pPr>
            <a:r>
              <a:t>● 碳資產架構師</a:t>
            </a:r>
          </a:p>
          <a:p>
            <a:pPr>
              <a:spcBef>
                <a:spcPts val="200"/>
              </a:spcBef>
              <a:defRPr sz="1100">
                <a:solidFill>
                  <a:srgbClr val="666666"/>
                </a:solidFill>
              </a:defRPr>
            </a:pPr>
            <a:r>
              <a:t>  CCER 開發與碳金融設計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89120"/>
            <a:ext cx="11064240" cy="1645920"/>
          </a:xfrm>
          <a:prstGeom prst="round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5720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合夥人激勵機制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9377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B6CB4"/>
                </a:solidFill>
              </a:defRPr>
            </a:pPr>
            <a:r>
              <a:t>項目跟投</a:t>
            </a:r>
          </a:p>
          <a:p>
            <a:pPr>
              <a:spcBef>
                <a:spcPts val="300"/>
              </a:spcBef>
              <a:defRPr sz="1100">
                <a:solidFill>
                  <a:srgbClr val="666666"/>
                </a:solidFill>
              </a:defRPr>
            </a:pPr>
            <a:r>
              <a:t>核心骨干參與項目投資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9377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8B57"/>
                </a:solidFill>
              </a:defRPr>
            </a:pPr>
            <a:r>
              <a:t>期權激勵</a:t>
            </a:r>
          </a:p>
          <a:p>
            <a:pPr>
              <a:spcBef>
                <a:spcPts val="300"/>
              </a:spcBef>
              <a:defRPr sz="1100">
                <a:solidFill>
                  <a:srgbClr val="666666"/>
                </a:solidFill>
              </a:defRPr>
            </a:pPr>
            <a:r>
              <a:t>長期股權綁定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9377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692A"/>
                </a:solidFill>
              </a:defRPr>
            </a:pPr>
            <a:r>
              <a:t>資產池收益分潤</a:t>
            </a:r>
          </a:p>
          <a:p>
            <a:pPr>
              <a:spcBef>
                <a:spcPts val="300"/>
              </a:spcBef>
              <a:defRPr sz="1100">
                <a:solidFill>
                  <a:srgbClr val="666666"/>
                </a:solidFill>
              </a:defRPr>
            </a:pPr>
            <a:r>
              <a:t>與行政區長期收益掛鉤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1A"/>
                </a:solidFill>
              </a:defRPr>
            </a:pPr>
            <a:r>
              <a:t>結論</a:t>
            </a:r>
          </a:p>
          <a:p>
            <a:pPr>
              <a:spcBef>
                <a:spcPts val="400"/>
              </a:spcBef>
              <a:defRPr sz="1200">
                <a:solidFill>
                  <a:srgbClr val="666666"/>
                </a:solidFill>
              </a:defRPr>
            </a:pPr>
            <a:r>
              <a:t>搶佔中國新能源轉型浪潮先機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371600" cy="27432"/>
          </a:xfrm>
          <a:prstGeom prst="rect">
            <a:avLst/>
          </a:prstGeom>
          <a:solidFill>
            <a:srgbClr val="2B6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10972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1A"/>
                </a:solidFill>
              </a:defRPr>
            </a:pPr>
            <a:r>
              <a:t>「千里風光計畫」提供了一個全面且具前瞻性的戰略框架，透過清晰的母子公司定位、精細化的營運管理、創新的財務模式與強大的技術支撐，有望在行政區級市場建立起領先的 AI 光儲碳電網營運商。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1760"/>
            <a:ext cx="54864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核心優勢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</a:defRPr>
            </a:pPr>
            <a:r>
              <a:t>✓ 清晰的組織架構：母公司統籌 + 三大子公司專業分工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</a:defRPr>
            </a:pPr>
            <a:r>
              <a:t>✓ 完整的商業閉環：從獲客到資產退出的全鏈條覆蓋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</a:defRPr>
            </a:pPr>
            <a:r>
              <a:t>✓ AI 驅動的技術護城河：Edge AI、數字孿生、智能調度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97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</a:defRPr>
            </a:pPr>
            <a:r>
              <a:t>✓ 金融創新能力：REITs、碳交易、電力現貨聯動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651760"/>
            <a:ext cx="5212080" cy="3200400"/>
          </a:xfrm>
          <a:prstGeom prst="roundRect">
            <a:avLst/>
          </a:prstGeom>
          <a:solidFill>
            <a:srgbClr val="F0F4F8"/>
          </a:solidFill>
          <a:ln>
            <a:solidFill>
              <a:srgbClr val="2B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83464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行動建議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2004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</a:defRPr>
            </a:pPr>
            <a:r>
              <a:t>→ 儘快啟動核心團隊組建，鎖定電力+AI+金融複合人才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566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</a:defRPr>
            </a:pPr>
            <a:r>
              <a:t>→ 選定首個行政區試點，驗證「戰區制」與商業閉環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9319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</a:defRPr>
            </a:pPr>
            <a:r>
              <a:t>→ 搭建 AI 能源平台雛形，積累數據資產與算法能力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2976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</a:defRPr>
            </a:pPr>
            <a:r>
              <a:t>→ 設計合夥人激勵機制，綁定核心骨干長期利益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6035040"/>
            <a:ext cx="11064240" cy="54864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1722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最終願景：城市級能源大腦  |  能源建設商 → 能源資產投資平台 → 區域電網營運商 → 能源金融集團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